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7493A"/>
                </a:solidFill>
                <a:latin typeface="Aptos"/>
              </a:rPr>
              <a:t>PASSPORTSOL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14400"/>
            <a:ext cx="56692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7191C"/>
                </a:solidFill>
                <a:latin typeface="Georgia"/>
              </a:rPr>
              <a:t>Gitcoin gives the seed.
Solana grows the passport.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5166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>
                <a:solidFill>
                  <a:srgbClr val="656565"/>
                </a:solidFill>
                <a:latin typeface="Aptos"/>
              </a:rPr>
              <a:t>On-chain reputation with collectibles.</a:t>
            </a:r>
          </a:p>
          <a:p>
            <a:pPr algn="l">
              <a:spcAft>
                <a:spcPts val="1200"/>
              </a:spcAft>
            </a:pPr>
            <a:r>
              <a:rPr sz="1900">
                <a:solidFill>
                  <a:srgbClr val="17191C"/>
                </a:solidFill>
                <a:latin typeface="Aptos"/>
              </a:rPr>
              <a:t>Communities use that passport to reward real participation, not anonymous wallets.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5440680"/>
            <a:ext cx="21488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493A"/>
                </a:solidFill>
                <a:latin typeface="Aptos"/>
              </a:rPr>
              <a:t>seed + signal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914400"/>
            <a:ext cx="4892040" cy="534924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903720" y="1325880"/>
            <a:ext cx="1463040" cy="1463040"/>
          </a:xfrm>
          <a:prstGeom prst="ellipse">
            <a:avLst/>
          </a:prstGeom>
          <a:solidFill>
            <a:srgbClr val="18A58C"/>
          </a:solidFill>
          <a:ln w="12700">
            <a:solidFill>
              <a:srgbClr val="18A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0" y="1874519"/>
            <a:ext cx="1051560" cy="1051560"/>
          </a:xfrm>
          <a:prstGeom prst="ellipse">
            <a:avLst/>
          </a:prstGeom>
          <a:solidFill>
            <a:srgbClr val="BE923F"/>
          </a:solidFill>
          <a:ln w="12700">
            <a:solidFill>
              <a:srgbClr val="BE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9189720" y="1417320"/>
            <a:ext cx="822960" cy="822960"/>
          </a:xfrm>
          <a:prstGeom prst="diamond">
            <a:avLst/>
          </a:prstGeom>
          <a:solidFill>
            <a:srgbClr val="E96B4E"/>
          </a:solidFill>
          <a:ln w="12700">
            <a:solidFill>
              <a:srgbClr val="E96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7315200" y="2834640"/>
            <a:ext cx="914400" cy="914400"/>
          </a:xfrm>
          <a:prstGeom prst="triangle">
            <a:avLst/>
          </a:prstGeom>
          <a:solidFill>
            <a:srgbClr val="17493A"/>
          </a:solidFill>
          <a:ln w="12700">
            <a:solidFill>
              <a:srgbClr val="174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8686800" y="3063240"/>
            <a:ext cx="1097280" cy="1097280"/>
          </a:xfrm>
          <a:prstGeom prst="hexagon">
            <a:avLst/>
          </a:prstGeom>
          <a:solidFill>
            <a:srgbClr val="FFFFFF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26280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7191C"/>
                </a:solidFill>
                <a:latin typeface="Aptos"/>
              </a:rPr>
              <a:t>SIGNAL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919472"/>
            <a:ext cx="3886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56565"/>
                </a:solidFill>
                <a:latin typeface="Aptos"/>
              </a:rPr>
              <a:t>native PPTX graphic block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7493A"/>
                </a:solidFill>
                <a:latin typeface="Aptos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14400"/>
            <a:ext cx="56692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7191C"/>
                </a:solidFill>
                <a:latin typeface="Georgia"/>
              </a:rPr>
              <a:t>Airdrops still treat everyone like a fresh wallet.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5166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>
                <a:solidFill>
                  <a:srgbClr val="656565"/>
                </a:solidFill>
                <a:latin typeface="Aptos"/>
              </a:rPr>
              <a:t>Gitcoin alone does not tell a Solana community who actually stayed, built, voted, collected, or showed up.</a:t>
            </a:r>
          </a:p>
          <a:p>
            <a:pPr algn="l">
              <a:spcAft>
                <a:spcPts val="1200"/>
              </a:spcAft>
            </a:pPr>
            <a:r>
              <a:rPr sz="1900">
                <a:solidFill>
                  <a:srgbClr val="17191C"/>
                </a:solidFill>
                <a:latin typeface="Aptos"/>
              </a:rPr>
              <a:t>That is why rewards leak to low-context wallets while real members look invisible.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5440680"/>
            <a:ext cx="21488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493A"/>
                </a:solidFill>
                <a:latin typeface="Aptos"/>
              </a:rPr>
              <a:t>$94.5M lost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914400"/>
            <a:ext cx="4892040" cy="534924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903720" y="1325880"/>
            <a:ext cx="1463040" cy="1463040"/>
          </a:xfrm>
          <a:prstGeom prst="ellipse">
            <a:avLst/>
          </a:prstGeom>
          <a:solidFill>
            <a:srgbClr val="18A58C"/>
          </a:solidFill>
          <a:ln w="12700">
            <a:solidFill>
              <a:srgbClr val="18A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0" y="1874519"/>
            <a:ext cx="1051560" cy="1051560"/>
          </a:xfrm>
          <a:prstGeom prst="ellipse">
            <a:avLst/>
          </a:prstGeom>
          <a:solidFill>
            <a:srgbClr val="BE923F"/>
          </a:solidFill>
          <a:ln w="12700">
            <a:solidFill>
              <a:srgbClr val="BE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9189720" y="1417320"/>
            <a:ext cx="822960" cy="822960"/>
          </a:xfrm>
          <a:prstGeom prst="diamond">
            <a:avLst/>
          </a:prstGeom>
          <a:solidFill>
            <a:srgbClr val="E96B4E"/>
          </a:solidFill>
          <a:ln w="12700">
            <a:solidFill>
              <a:srgbClr val="E96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7315200" y="2834640"/>
            <a:ext cx="914400" cy="914400"/>
          </a:xfrm>
          <a:prstGeom prst="triangle">
            <a:avLst/>
          </a:prstGeom>
          <a:solidFill>
            <a:srgbClr val="17493A"/>
          </a:solidFill>
          <a:ln w="12700">
            <a:solidFill>
              <a:srgbClr val="174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8686800" y="3063240"/>
            <a:ext cx="1097280" cy="1097280"/>
          </a:xfrm>
          <a:prstGeom prst="hexagon">
            <a:avLst/>
          </a:prstGeom>
          <a:solidFill>
            <a:srgbClr val="FFFFFF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26280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7191C"/>
                </a:solidFill>
                <a:latin typeface="Aptos"/>
              </a:rPr>
              <a:t>WALLET FOG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919472"/>
            <a:ext cx="3886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56565"/>
                </a:solidFill>
                <a:latin typeface="Aptos"/>
              </a:rPr>
              <a:t>native PPTX graphic block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7493A"/>
                </a:solidFill>
                <a:latin typeface="Aptos"/>
              </a:rPr>
              <a:t>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14400"/>
            <a:ext cx="56692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7191C"/>
                </a:solidFill>
                <a:latin typeface="Georgia"/>
              </a:rPr>
              <a:t>Reputation should feel earned, visible, and native to Solana.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5166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>
                <a:solidFill>
                  <a:srgbClr val="656565"/>
                </a:solidFill>
                <a:latin typeface="Aptos"/>
              </a:rPr>
              <a:t>We start with Gitcoin as a cross-chain trust seed, then add stamps from open Solana data like wallet age, SNS, governance, collection history, and ecosystem activity.</a:t>
            </a:r>
          </a:p>
          <a:p>
            <a:pPr algn="l">
              <a:spcAft>
                <a:spcPts val="1200"/>
              </a:spcAft>
            </a:pPr>
            <a:r>
              <a:rPr sz="1900">
                <a:solidFill>
                  <a:srgbClr val="17191C"/>
                </a:solidFill>
                <a:latin typeface="Aptos"/>
              </a:rPr>
              <a:t>The result is a living passport that gets stronger as your on-chain story grows.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5440680"/>
            <a:ext cx="21488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493A"/>
                </a:solidFill>
                <a:latin typeface="Aptos"/>
              </a:rPr>
              <a:t>living passport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914400"/>
            <a:ext cx="4892040" cy="534924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903720" y="1325880"/>
            <a:ext cx="1463040" cy="1463040"/>
          </a:xfrm>
          <a:prstGeom prst="ellipse">
            <a:avLst/>
          </a:prstGeom>
          <a:solidFill>
            <a:srgbClr val="18A58C"/>
          </a:solidFill>
          <a:ln w="12700">
            <a:solidFill>
              <a:srgbClr val="18A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0" y="1874519"/>
            <a:ext cx="1051560" cy="1051560"/>
          </a:xfrm>
          <a:prstGeom prst="ellipse">
            <a:avLst/>
          </a:prstGeom>
          <a:solidFill>
            <a:srgbClr val="BE923F"/>
          </a:solidFill>
          <a:ln w="12700">
            <a:solidFill>
              <a:srgbClr val="BE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9189720" y="1417320"/>
            <a:ext cx="822960" cy="822960"/>
          </a:xfrm>
          <a:prstGeom prst="diamond">
            <a:avLst/>
          </a:prstGeom>
          <a:solidFill>
            <a:srgbClr val="E96B4E"/>
          </a:solidFill>
          <a:ln w="12700">
            <a:solidFill>
              <a:srgbClr val="E96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7315200" y="2834640"/>
            <a:ext cx="914400" cy="914400"/>
          </a:xfrm>
          <a:prstGeom prst="triangle">
            <a:avLst/>
          </a:prstGeom>
          <a:solidFill>
            <a:srgbClr val="17493A"/>
          </a:solidFill>
          <a:ln w="12700">
            <a:solidFill>
              <a:srgbClr val="174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8686800" y="3063240"/>
            <a:ext cx="1097280" cy="1097280"/>
          </a:xfrm>
          <a:prstGeom prst="hexagon">
            <a:avLst/>
          </a:prstGeom>
          <a:solidFill>
            <a:srgbClr val="FFFFFF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26280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7191C"/>
                </a:solidFill>
                <a:latin typeface="Aptos"/>
              </a:rPr>
              <a:t>STAMP LADDER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919472"/>
            <a:ext cx="3886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56565"/>
                </a:solidFill>
                <a:latin typeface="Aptos"/>
              </a:rPr>
              <a:t>native PPTX graphic block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7493A"/>
                </a:solidFill>
                <a:latin typeface="Aptos"/>
              </a:rP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14400"/>
            <a:ext cx="56692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7191C"/>
                </a:solidFill>
                <a:latin typeface="Georgia"/>
              </a:rPr>
              <a:t>Collectible stamps are the product.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5166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>
                <a:solidFill>
                  <a:srgbClr val="656565"/>
                </a:solidFill>
                <a:latin typeface="Aptos"/>
              </a:rPr>
              <a:t>Users do not just pass a check; they collect identity objects like Builder, Voter, Collector, Event Attendee, and Early Community.</a:t>
            </a:r>
          </a:p>
          <a:p>
            <a:pPr algn="l">
              <a:spcAft>
                <a:spcPts val="1200"/>
              </a:spcAft>
            </a:pPr>
            <a:r>
              <a:rPr sz="1900">
                <a:solidFill>
                  <a:srgbClr val="17191C"/>
                </a:solidFill>
                <a:latin typeface="Aptos"/>
              </a:rPr>
              <a:t>Projects can read the same passport to gate rewards, campaigns, and access with one shared reputation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5440680"/>
            <a:ext cx="21488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493A"/>
                </a:solidFill>
                <a:latin typeface="Aptos"/>
              </a:rPr>
              <a:t>collect, not just verify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914400"/>
            <a:ext cx="4892040" cy="534924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903720" y="1325880"/>
            <a:ext cx="1463040" cy="1463040"/>
          </a:xfrm>
          <a:prstGeom prst="ellipse">
            <a:avLst/>
          </a:prstGeom>
          <a:solidFill>
            <a:srgbClr val="18A58C"/>
          </a:solidFill>
          <a:ln w="12700">
            <a:solidFill>
              <a:srgbClr val="18A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0" y="1874519"/>
            <a:ext cx="1051560" cy="1051560"/>
          </a:xfrm>
          <a:prstGeom prst="ellipse">
            <a:avLst/>
          </a:prstGeom>
          <a:solidFill>
            <a:srgbClr val="BE923F"/>
          </a:solidFill>
          <a:ln w="12700">
            <a:solidFill>
              <a:srgbClr val="BE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9189720" y="1417320"/>
            <a:ext cx="822960" cy="822960"/>
          </a:xfrm>
          <a:prstGeom prst="diamond">
            <a:avLst/>
          </a:prstGeom>
          <a:solidFill>
            <a:srgbClr val="E96B4E"/>
          </a:solidFill>
          <a:ln w="12700">
            <a:solidFill>
              <a:srgbClr val="E96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7315200" y="2834640"/>
            <a:ext cx="914400" cy="914400"/>
          </a:xfrm>
          <a:prstGeom prst="triangle">
            <a:avLst/>
          </a:prstGeom>
          <a:solidFill>
            <a:srgbClr val="17493A"/>
          </a:solidFill>
          <a:ln w="12700">
            <a:solidFill>
              <a:srgbClr val="174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8686800" y="3063240"/>
            <a:ext cx="1097280" cy="1097280"/>
          </a:xfrm>
          <a:prstGeom prst="hexagon">
            <a:avLst/>
          </a:prstGeom>
          <a:solidFill>
            <a:srgbClr val="FFFFFF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26280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7191C"/>
                </a:solidFill>
                <a:latin typeface="Aptos"/>
              </a:rPr>
              <a:t>STAMP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919472"/>
            <a:ext cx="3886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56565"/>
                </a:solidFill>
                <a:latin typeface="Aptos"/>
              </a:rPr>
              <a:t>native PPTX graphic block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7493A"/>
                </a:solidFill>
                <a:latin typeface="Aptos"/>
              </a:rPr>
              <a:t>WHY SOLANA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14400"/>
            <a:ext cx="56692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7191C"/>
                </a:solidFill>
                <a:latin typeface="Georgia"/>
              </a:rPr>
              <a:t>Solana makes this more useful, not just more on-chain.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5166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>
                <a:solidFill>
                  <a:srgbClr val="656565"/>
                </a:solidFill>
                <a:latin typeface="Aptos"/>
              </a:rPr>
              <a:t>Public wallet behavior, token activity, community signals, and low-cost updates make Solana the best place to turn reputation into a live product.</a:t>
            </a:r>
          </a:p>
          <a:p>
            <a:pPr algn="l">
              <a:spcAft>
                <a:spcPts val="1200"/>
              </a:spcAft>
            </a:pPr>
            <a:r>
              <a:rPr sz="1900">
                <a:solidFill>
                  <a:srgbClr val="17191C"/>
                </a:solidFill>
                <a:latin typeface="Aptos"/>
              </a:rPr>
              <a:t>Gitcoin gives credibility at the edge, but Solana gives us the ongoing data that makes the passport worth checking.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5440680"/>
            <a:ext cx="21488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493A"/>
                </a:solidFill>
                <a:latin typeface="Aptos"/>
              </a:rPr>
              <a:t>native public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914400"/>
            <a:ext cx="4892040" cy="534924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903720" y="1325880"/>
            <a:ext cx="1463040" cy="1463040"/>
          </a:xfrm>
          <a:prstGeom prst="ellipse">
            <a:avLst/>
          </a:prstGeom>
          <a:solidFill>
            <a:srgbClr val="18A58C"/>
          </a:solidFill>
          <a:ln w="12700">
            <a:solidFill>
              <a:srgbClr val="18A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0" y="1874519"/>
            <a:ext cx="1051560" cy="1051560"/>
          </a:xfrm>
          <a:prstGeom prst="ellipse">
            <a:avLst/>
          </a:prstGeom>
          <a:solidFill>
            <a:srgbClr val="BE923F"/>
          </a:solidFill>
          <a:ln w="12700">
            <a:solidFill>
              <a:srgbClr val="BE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9189720" y="1417320"/>
            <a:ext cx="822960" cy="822960"/>
          </a:xfrm>
          <a:prstGeom prst="diamond">
            <a:avLst/>
          </a:prstGeom>
          <a:solidFill>
            <a:srgbClr val="E96B4E"/>
          </a:solidFill>
          <a:ln w="12700">
            <a:solidFill>
              <a:srgbClr val="E96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7315200" y="2834640"/>
            <a:ext cx="914400" cy="914400"/>
          </a:xfrm>
          <a:prstGeom prst="triangle">
            <a:avLst/>
          </a:prstGeom>
          <a:solidFill>
            <a:srgbClr val="17493A"/>
          </a:solidFill>
          <a:ln w="12700">
            <a:solidFill>
              <a:srgbClr val="174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8686800" y="3063240"/>
            <a:ext cx="1097280" cy="1097280"/>
          </a:xfrm>
          <a:prstGeom prst="hexagon">
            <a:avLst/>
          </a:prstGeom>
          <a:solidFill>
            <a:srgbClr val="FFFFFF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26280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7191C"/>
                </a:solidFill>
                <a:latin typeface="Aptos"/>
              </a:rPr>
              <a:t>DATA RAILS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919472"/>
            <a:ext cx="3886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56565"/>
                </a:solidFill>
                <a:latin typeface="Aptos"/>
              </a:rPr>
              <a:t>native PPTX graphic block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7493A"/>
                </a:solidFill>
                <a:latin typeface="Aptos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14400"/>
            <a:ext cx="56692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7191C"/>
                </a:solidFill>
                <a:latin typeface="Georgia"/>
              </a:rPr>
              <a:t>Users collect for free.
Communities pay to use the passport.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5166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>
                <a:solidFill>
                  <a:srgbClr val="656565"/>
                </a:solidFill>
                <a:latin typeface="Aptos"/>
              </a:rPr>
              <a:t>Starter is a fixed $49 per month for smaller launches and pilot communities.</a:t>
            </a:r>
          </a:p>
          <a:p>
            <a:pPr algn="l">
              <a:spcAft>
                <a:spcPts val="1200"/>
              </a:spcAft>
            </a:pPr>
            <a:r>
              <a:rPr sz="1900">
                <a:solidFill>
                  <a:srgbClr val="17191C"/>
                </a:solidFill>
                <a:latin typeface="Aptos"/>
              </a:rPr>
              <a:t>Larger projects pay as they go when they need more verification, segmentation, and reward gating.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5440680"/>
            <a:ext cx="21488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493A"/>
                </a:solidFill>
                <a:latin typeface="Aptos"/>
              </a:rPr>
              <a:t>$49 + usage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914400"/>
            <a:ext cx="4892040" cy="534924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903720" y="1325880"/>
            <a:ext cx="1463040" cy="1463040"/>
          </a:xfrm>
          <a:prstGeom prst="ellipse">
            <a:avLst/>
          </a:prstGeom>
          <a:solidFill>
            <a:srgbClr val="18A58C"/>
          </a:solidFill>
          <a:ln w="12700">
            <a:solidFill>
              <a:srgbClr val="18A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0" y="1874519"/>
            <a:ext cx="1051560" cy="1051560"/>
          </a:xfrm>
          <a:prstGeom prst="ellipse">
            <a:avLst/>
          </a:prstGeom>
          <a:solidFill>
            <a:srgbClr val="BE923F"/>
          </a:solidFill>
          <a:ln w="12700">
            <a:solidFill>
              <a:srgbClr val="BE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9189720" y="1417320"/>
            <a:ext cx="822960" cy="822960"/>
          </a:xfrm>
          <a:prstGeom prst="diamond">
            <a:avLst/>
          </a:prstGeom>
          <a:solidFill>
            <a:srgbClr val="E96B4E"/>
          </a:solidFill>
          <a:ln w="12700">
            <a:solidFill>
              <a:srgbClr val="E96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7315200" y="2834640"/>
            <a:ext cx="914400" cy="914400"/>
          </a:xfrm>
          <a:prstGeom prst="triangle">
            <a:avLst/>
          </a:prstGeom>
          <a:solidFill>
            <a:srgbClr val="17493A"/>
          </a:solidFill>
          <a:ln w="12700">
            <a:solidFill>
              <a:srgbClr val="174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8686800" y="3063240"/>
            <a:ext cx="1097280" cy="1097280"/>
          </a:xfrm>
          <a:prstGeom prst="hexagon">
            <a:avLst/>
          </a:prstGeom>
          <a:solidFill>
            <a:srgbClr val="FFFFFF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26280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7191C"/>
                </a:solidFill>
                <a:latin typeface="Aptos"/>
              </a:rPr>
              <a:t>PRICING SPLIT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919472"/>
            <a:ext cx="3886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56565"/>
                </a:solidFill>
                <a:latin typeface="Aptos"/>
              </a:rPr>
              <a:t>native PPTX graphic block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3232" y="45720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17493A"/>
                </a:solidFill>
                <a:latin typeface="Aptos"/>
              </a:rP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914400"/>
            <a:ext cx="566928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7191C"/>
                </a:solidFill>
                <a:latin typeface="Georgia"/>
              </a:rPr>
              <a:t>PassportSOL makes Gitcoin useful inside Solana-native communities.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331720"/>
            <a:ext cx="5166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>
                <a:solidFill>
                  <a:srgbClr val="656565"/>
                </a:solidFill>
                <a:latin typeface="Aptos"/>
              </a:rPr>
              <a:t>Our wedge is simple: collectible stamps powered by Gitcoin trust and public Solana data.</a:t>
            </a:r>
          </a:p>
          <a:p>
            <a:pPr algn="l">
              <a:spcAft>
                <a:spcPts val="1200"/>
              </a:spcAft>
            </a:pPr>
            <a:r>
              <a:rPr sz="1900">
                <a:solidFill>
                  <a:srgbClr val="17191C"/>
                </a:solidFill>
                <a:latin typeface="Aptos"/>
              </a:rPr>
              <a:t>The more signal a wallet earns, the more confidently a community can reward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5440680"/>
            <a:ext cx="214884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7493A"/>
                </a:solidFill>
                <a:latin typeface="Aptos"/>
              </a:rPr>
              <a:t>reward real members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46520" y="914400"/>
            <a:ext cx="4892040" cy="5349240"/>
          </a:xfrm>
          <a:prstGeom prst="roundRect">
            <a:avLst/>
          </a:prstGeom>
          <a:solidFill>
            <a:srgbClr val="FFFCF6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903720" y="1325880"/>
            <a:ext cx="1463040" cy="1463040"/>
          </a:xfrm>
          <a:prstGeom prst="ellipse">
            <a:avLst/>
          </a:prstGeom>
          <a:solidFill>
            <a:srgbClr val="18A58C"/>
          </a:solidFill>
          <a:ln w="12700">
            <a:solidFill>
              <a:srgbClr val="18A5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0" y="1874519"/>
            <a:ext cx="1051560" cy="1051560"/>
          </a:xfrm>
          <a:prstGeom prst="ellipse">
            <a:avLst/>
          </a:prstGeom>
          <a:solidFill>
            <a:srgbClr val="BE923F"/>
          </a:solidFill>
          <a:ln w="12700">
            <a:solidFill>
              <a:srgbClr val="BE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9189720" y="1417320"/>
            <a:ext cx="822960" cy="822960"/>
          </a:xfrm>
          <a:prstGeom prst="diamond">
            <a:avLst/>
          </a:prstGeom>
          <a:solidFill>
            <a:srgbClr val="E96B4E"/>
          </a:solidFill>
          <a:ln w="12700">
            <a:solidFill>
              <a:srgbClr val="E96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7315200" y="2834640"/>
            <a:ext cx="914400" cy="914400"/>
          </a:xfrm>
          <a:prstGeom prst="triangle">
            <a:avLst/>
          </a:prstGeom>
          <a:solidFill>
            <a:srgbClr val="17493A"/>
          </a:solidFill>
          <a:ln w="12700">
            <a:solidFill>
              <a:srgbClr val="1749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exagon 10"/>
          <p:cNvSpPr/>
          <p:nvPr/>
        </p:nvSpPr>
        <p:spPr>
          <a:xfrm>
            <a:off x="8686800" y="3063240"/>
            <a:ext cx="1097280" cy="1097280"/>
          </a:xfrm>
          <a:prstGeom prst="hexagon">
            <a:avLst/>
          </a:prstGeom>
          <a:solidFill>
            <a:srgbClr val="FFFFFF"/>
          </a:solidFill>
          <a:ln w="12700">
            <a:solidFill>
              <a:srgbClr val="D7CE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95160" y="4526280"/>
            <a:ext cx="3840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17191C"/>
                </a:solidFill>
                <a:latin typeface="Aptos"/>
              </a:rPr>
              <a:t>HERO 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4919472"/>
            <a:ext cx="3886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
                  <a:srgbClr val="656565"/>
                </a:solidFill>
                <a:latin typeface="Aptos"/>
              </a:rPr>
              <a:t>native PPTX graphic block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