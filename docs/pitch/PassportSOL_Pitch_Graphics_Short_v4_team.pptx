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84080" y="457200"/>
            <a:ext cx="1645920" cy="201168"/>
          </a:xfrm>
          <a:prstGeom prst="roundRect">
            <a:avLst/>
          </a:prstGeom>
          <a:solidFill>
            <a:srgbClr val="6331C2"/>
          </a:solidFill>
          <a:ln>
            <a:solidFill>
              <a:srgbClr val="633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749808"/>
            <a:ext cx="2286000" cy="164592"/>
          </a:xfrm>
          <a:prstGeom prst="roundRect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60" y="987552"/>
            <a:ext cx="1463040" cy="128016"/>
          </a:xfrm>
          <a:prstGeom prst="roundRect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7548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C6864"/>
                </a:solidFill>
                <a:latin typeface="Aptos"/>
              </a:rPr>
              <a:t>NEW DECK / SHORT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18181D"/>
                </a:solidFill>
                <a:latin typeface="Georgia"/>
              </a:rPr>
              <a:t>PassportSOL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6331C2"/>
                </a:solidFill>
                <a:latin typeface="Georgia"/>
              </a:rPr>
              <a:t>Collect badges.
Unlock rewards.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26080"/>
            <a:ext cx="4846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C6864"/>
                </a:solidFill>
                <a:latin typeface="Aptos"/>
              </a:rPr>
              <a:t>A collectible loyalty layer for Solana communities.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1051560"/>
            <a:ext cx="1789938" cy="1789938"/>
          </a:xfrm>
          <a:prstGeom prst="ellipse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05038" y="1421892"/>
            <a:ext cx="1419606" cy="1419606"/>
          </a:xfrm>
          <a:prstGeom prst="ellipse">
            <a:avLst/>
          </a:prstGeom>
          <a:solidFill>
            <a:srgbClr val="1AB08C"/>
          </a:solidFill>
          <a:ln w="12700"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54312" y="2224278"/>
            <a:ext cx="987552" cy="987552"/>
          </a:xfrm>
          <a:prstGeom prst="ellipse">
            <a:avLst/>
          </a:prstGeom>
          <a:solidFill>
            <a:srgbClr val="C78F44"/>
          </a:solidFill>
          <a:ln w="12700"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7687818" y="2594610"/>
            <a:ext cx="740664" cy="740664"/>
          </a:xfrm>
          <a:prstGeom prst="diamond">
            <a:avLst/>
          </a:prstGeom>
          <a:solidFill>
            <a:srgbClr val="F57A5D"/>
          </a:solidFill>
          <a:ln w="12700"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9045702" y="952805"/>
            <a:ext cx="678942" cy="678942"/>
          </a:xfrm>
          <a:prstGeom prst="triangle">
            <a:avLst/>
          </a:prstGeom>
          <a:solidFill>
            <a:srgbClr val="6331C2"/>
          </a:solidFill>
          <a:ln w="12700">
            <a:solidFill>
              <a:srgbClr val="633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4069080"/>
            <a:ext cx="46634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370832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8181D"/>
                </a:solidFill>
                <a:latin typeface="Aptos"/>
              </a:rPr>
              <a:t>Short story, bold visuals, screenshot-ready layout.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Airdrops feel random.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6C6864"/>
                </a:solidFill>
                <a:latin typeface="Aptos"/>
              </a:rPr>
              <a:t>Real fans get treated like anonymous wallets.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164592" cy="960120"/>
          </a:xfrm>
          <a:prstGeom prst="rect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9077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C6864"/>
                </a:solidFill>
                <a:latin typeface="Aptos"/>
              </a:rPr>
              <a:t>bot loss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12724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8181D"/>
                </a:solidFill>
                <a:latin typeface="Georgia"/>
              </a:rPr>
              <a:t>$94.5M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7432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2743200"/>
            <a:ext cx="164592" cy="960120"/>
          </a:xfrm>
          <a:prstGeom prst="rect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9077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C6864"/>
                </a:solidFill>
                <a:latin typeface="Aptos"/>
              </a:rPr>
              <a:t>user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312724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8181D"/>
                </a:solidFill>
                <a:latin typeface="Georgia"/>
              </a:rPr>
              <a:t>too weak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7432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2743200"/>
            <a:ext cx="164592" cy="960120"/>
          </a:xfrm>
          <a:prstGeom prst="rect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0408" y="290779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C6864"/>
                </a:solidFill>
                <a:latin typeface="Aptos"/>
              </a:rPr>
              <a:t>collector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8" y="312724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8181D"/>
                </a:solidFill>
                <a:latin typeface="Georgia"/>
              </a:rPr>
              <a:t>missing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280160"/>
            <a:ext cx="2926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8181D"/>
                </a:solidFill>
                <a:latin typeface="Aptos"/>
              </a:rPr>
              <a:t>What’s missing?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33172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6331C2"/>
                </a:solidFill>
                <a:latin typeface="Aptos"/>
              </a:rPr>
              <a:t>• </a:t>
            </a:r>
            <a:r>
              <a:rPr sz="1600">
                <a:solidFill>
                  <a:srgbClr val="18181D"/>
                </a:solidFill>
                <a:latin typeface="Aptos"/>
              </a:rPr>
              <a:t>proof of loyalty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6331C2"/>
                </a:solidFill>
                <a:latin typeface="Aptos"/>
              </a:rPr>
              <a:t>• </a:t>
            </a:r>
            <a:r>
              <a:rPr sz="1600">
                <a:solidFill>
                  <a:srgbClr val="18181D"/>
                </a:solidFill>
                <a:latin typeface="Aptos"/>
              </a:rPr>
              <a:t>something collectible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6331C2"/>
                </a:solidFill>
                <a:latin typeface="Aptos"/>
              </a:rPr>
              <a:t>• </a:t>
            </a:r>
            <a:r>
              <a:rPr sz="1600">
                <a:solidFill>
                  <a:srgbClr val="18181D"/>
                </a:solidFill>
                <a:latin typeface="Aptos"/>
              </a:rPr>
              <a:t>clean reward gating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PassportSOL makes loyalty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6331C2"/>
                </a:solidFill>
                <a:latin typeface="Aptos"/>
              </a:rPr>
              <a:t>• </a:t>
            </a:r>
            <a:r>
              <a:rPr sz="1900">
                <a:solidFill>
                  <a:srgbClr val="18181D"/>
                </a:solidFill>
                <a:latin typeface="Aptos"/>
              </a:rPr>
              <a:t>Collect badges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6331C2"/>
                </a:solidFill>
                <a:latin typeface="Aptos"/>
              </a:rPr>
              <a:t>• </a:t>
            </a:r>
            <a:r>
              <a:rPr sz="1900">
                <a:solidFill>
                  <a:srgbClr val="18181D"/>
                </a:solidFill>
                <a:latin typeface="Aptos"/>
              </a:rPr>
              <a:t>Build one passport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6331C2"/>
                </a:solidFill>
                <a:latin typeface="Aptos"/>
              </a:rPr>
              <a:t>• </a:t>
            </a:r>
            <a:r>
              <a:rPr sz="1900">
                <a:solidFill>
                  <a:srgbClr val="18181D"/>
                </a:solidFill>
                <a:latin typeface="Aptos"/>
              </a:rPr>
              <a:t>Use it across communities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4709160"/>
            <a:ext cx="4480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001768"/>
            <a:ext cx="3931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C6864"/>
                </a:solidFill>
                <a:latin typeface="Aptos"/>
              </a:rPr>
              <a:t>Short version: it feels more like a loyalty game than a claim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143000"/>
            <a:ext cx="5212080" cy="49377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1307592"/>
            <a:ext cx="4919472" cy="256032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63640" y="1371600"/>
            <a:ext cx="73152" cy="73152"/>
          </a:xfrm>
          <a:prstGeom prst="ellipse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371600"/>
            <a:ext cx="73152" cy="73152"/>
          </a:xfrm>
          <a:prstGeom prst="ellipse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83096" y="1371600"/>
            <a:ext cx="73152" cy="73152"/>
          </a:xfrm>
          <a:prstGeom prst="ellipse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6C6864"/>
                </a:solidFill>
                <a:latin typeface="Aptos"/>
              </a:rPr>
              <a:t>APP SHOT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C6864"/>
                </a:solidFill>
                <a:latin typeface="Aptos"/>
              </a:rPr>
              <a:t>drop app screenshot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COLLECT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Badges are the hook.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8181D"/>
                </a:solidFill>
                <a:latin typeface="Aptos"/>
              </a:rPr>
              <a:t>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9476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8181D"/>
                </a:solidFill>
                <a:latin typeface="Aptos"/>
              </a:rPr>
              <a:t>dev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64592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9476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8181D"/>
                </a:solidFill>
                <a:latin typeface="Aptos"/>
              </a:rPr>
              <a:t>.sol / 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3063240"/>
            <a:ext cx="6217920" cy="10972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01568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204A3A"/>
                </a:solidFill>
                <a:latin typeface="Georgia"/>
              </a:rPr>
              <a:t>More badges = stronger reputation = better rewards.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143000"/>
            <a:ext cx="3657600" cy="50292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44383" y="1307592"/>
            <a:ext cx="3364992" cy="256032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399" y="1371600"/>
            <a:ext cx="73152" cy="73152"/>
          </a:xfrm>
          <a:prstGeom prst="ellipse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82127" y="1371600"/>
            <a:ext cx="73152" cy="73152"/>
          </a:xfrm>
          <a:prstGeom prst="ellipse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91855" y="1371600"/>
            <a:ext cx="73152" cy="73152"/>
          </a:xfrm>
          <a:prstGeom prst="ellipse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59" y="24231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6C6864"/>
                </a:solidFill>
                <a:latin typeface="Aptos"/>
              </a:rPr>
              <a:t>APP SHOT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28346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C6864"/>
                </a:solidFill>
                <a:latin typeface="Aptos"/>
              </a:rPr>
              <a:t>drop app screenshot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PASSPORT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8181D"/>
                </a:solidFill>
                <a:latin typeface="Georgia"/>
              </a:rPr>
              <a:t>One card.
All your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19456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C6864"/>
                </a:solidFill>
                <a:latin typeface="Aptos"/>
              </a:rPr>
              <a:t>Portable, simple, and easy to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6331C2"/>
                </a:solidFill>
                <a:latin typeface="Aptos"/>
              </a:rPr>
              <a:t>• </a:t>
            </a:r>
            <a:r>
              <a:rPr sz="1800">
                <a:solidFill>
                  <a:srgbClr val="18181D"/>
                </a:solidFill>
                <a:latin typeface="Aptos"/>
              </a:rPr>
              <a:t>shareable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6331C2"/>
                </a:solidFill>
                <a:latin typeface="Aptos"/>
              </a:rPr>
              <a:t>• </a:t>
            </a:r>
            <a:r>
              <a:rPr sz="1800">
                <a:solidFill>
                  <a:srgbClr val="18181D"/>
                </a:solidFill>
                <a:latin typeface="Aptos"/>
              </a:rPr>
              <a:t>reusable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6331C2"/>
                </a:solidFill>
                <a:latin typeface="Aptos"/>
              </a:rPr>
              <a:t>• </a:t>
            </a:r>
            <a:r>
              <a:rPr sz="1800">
                <a:solidFill>
                  <a:srgbClr val="18181D"/>
                </a:solidFill>
                <a:latin typeface="Aptos"/>
              </a:rPr>
              <a:t>cross-community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914400"/>
            <a:ext cx="5852160" cy="53949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55464" y="1078992"/>
            <a:ext cx="5559552" cy="256032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83480" y="1143000"/>
            <a:ext cx="73152" cy="73152"/>
          </a:xfrm>
          <a:prstGeom prst="ellipse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93208" y="1143000"/>
            <a:ext cx="73152" cy="73152"/>
          </a:xfrm>
          <a:prstGeom prst="ellipse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02936" y="1143000"/>
            <a:ext cx="73152" cy="73152"/>
          </a:xfrm>
          <a:prstGeom prst="ellipse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1945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6C6864"/>
                </a:solidFill>
                <a:latin typeface="Aptos"/>
              </a:rPr>
              <a:t>APP SHOT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060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C6864"/>
                </a:solidFill>
                <a:latin typeface="Aptos"/>
              </a:rPr>
              <a:t>drop app screenshot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Simple pricing.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737360"/>
            <a:ext cx="44805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04A3A"/>
                </a:solidFill>
                <a:latin typeface="Aptos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$49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C6864"/>
                </a:solidFill>
                <a:latin typeface="Aptos"/>
              </a:rPr>
              <a:t>Fixed monthly pricing for smaller launches and pilot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737360"/>
            <a:ext cx="4663440" cy="28803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25312" y="20574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04A3A"/>
                </a:solidFill>
                <a:latin typeface="Aptos"/>
              </a:rPr>
              <a:t>Bigger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242316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Pay as you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3063240"/>
            <a:ext cx="37490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C6864"/>
                </a:solidFill>
                <a:latin typeface="Aptos"/>
              </a:rPr>
              <a:t>Usage-based pricing for larger campaigns and higher verification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74920"/>
            <a:ext cx="9509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30952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18181D"/>
                </a:solidFill>
                <a:latin typeface="Aptos"/>
              </a:rPr>
              <a:t>Users never pay. Communities pay to reward real participation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1097280"/>
            <a:ext cx="1458468" cy="1458468"/>
          </a:xfrm>
          <a:prstGeom prst="ellipse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4227" y="1399032"/>
            <a:ext cx="1156716" cy="1156716"/>
          </a:xfrm>
          <a:prstGeom prst="ellipse">
            <a:avLst/>
          </a:prstGeom>
          <a:solidFill>
            <a:srgbClr val="1AB08C"/>
          </a:solidFill>
          <a:ln w="12700"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79192" y="2052827"/>
            <a:ext cx="804672" cy="804672"/>
          </a:xfrm>
          <a:prstGeom prst="ellipse">
            <a:avLst/>
          </a:prstGeom>
          <a:solidFill>
            <a:srgbClr val="C78F44"/>
          </a:solidFill>
          <a:ln w="12700"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321308" y="2354580"/>
            <a:ext cx="603504" cy="603504"/>
          </a:xfrm>
          <a:prstGeom prst="diamond">
            <a:avLst/>
          </a:prstGeom>
          <a:solidFill>
            <a:srgbClr val="F57A5D"/>
          </a:solidFill>
          <a:ln w="12700"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2427732" y="1016813"/>
            <a:ext cx="553212" cy="553212"/>
          </a:xfrm>
          <a:prstGeom prst="triangle">
            <a:avLst/>
          </a:prstGeom>
          <a:solidFill>
            <a:srgbClr val="6331C2"/>
          </a:solidFill>
          <a:ln w="12700">
            <a:solidFill>
              <a:srgbClr val="633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18181D"/>
                </a:solidFill>
                <a:latin typeface="Georgia"/>
              </a:rPr>
              <a:t>PassportSOL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6331C2"/>
                </a:solidFill>
                <a:latin typeface="Georgia"/>
              </a:rPr>
              <a:t>Collect badges.
Unlock rewards.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4206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C6864"/>
                </a:solidFill>
                <a:latin typeface="Aptos"/>
              </a:rPr>
              <a:t>A short, collectible pitch for a more human kind of reward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960120"/>
            <a:ext cx="5212080" cy="53949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15584" y="1124712"/>
            <a:ext cx="4919472" cy="256032"/>
          </a:xfrm>
          <a:prstGeom prst="roundRect">
            <a:avLst/>
          </a:prstGeom>
          <a:solidFill>
            <a:srgbClr val="18181D"/>
          </a:solidFill>
          <a:ln>
            <a:solidFill>
              <a:srgbClr val="181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0" y="1188720"/>
            <a:ext cx="73152" cy="73152"/>
          </a:xfrm>
          <a:prstGeom prst="ellipse">
            <a:avLst/>
          </a:prstGeom>
          <a:solidFill>
            <a:srgbClr val="F57A5D"/>
          </a:solidFill>
          <a:ln>
            <a:solidFill>
              <a:srgbClr val="F57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53328" y="1188720"/>
            <a:ext cx="73152" cy="73152"/>
          </a:xfrm>
          <a:prstGeom prst="ellipse">
            <a:avLst/>
          </a:prstGeom>
          <a:solidFill>
            <a:srgbClr val="C78F44"/>
          </a:solidFill>
          <a:ln>
            <a:solidFill>
              <a:srgbClr val="C78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63056" y="1188720"/>
            <a:ext cx="73152" cy="73152"/>
          </a:xfrm>
          <a:prstGeom prst="ellipse">
            <a:avLst/>
          </a:prstGeom>
          <a:solidFill>
            <a:srgbClr val="1AB08C"/>
          </a:solidFill>
          <a:ln>
            <a:solidFill>
              <a:srgbClr val="1A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2402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6C6864"/>
                </a:solidFill>
                <a:latin typeface="Aptos"/>
              </a:rPr>
              <a:t>HERO APP 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6517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C6864"/>
                </a:solidFill>
                <a:latin typeface="Aptos"/>
              </a:rPr>
              <a:t>drop app screenshot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C6864"/>
                </a:solidFill>
                <a:latin typeface="Aptos"/>
              </a:rPr>
              <a:t>github.com/0jz/passportsol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331C2"/>
                </a:solidFill>
                <a:latin typeface="Aptos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8181D"/>
                </a:solidFill>
                <a:latin typeface="Georgia"/>
              </a:rPr>
              <a:t>Who is building PassportSOL?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6C6864"/>
                </a:solidFill>
                <a:latin typeface="Aptos"/>
              </a:rPr>
              <a:t>Keep this slide short, personal, and easy to scan.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240280"/>
            <a:ext cx="47091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8992" y="2560320"/>
            <a:ext cx="1005840" cy="1005840"/>
          </a:xfrm>
          <a:prstGeom prst="roundRect">
            <a:avLst/>
          </a:prstGeom>
          <a:solidFill>
            <a:srgbClr val="6331C2"/>
          </a:solidFill>
          <a:ln>
            <a:solidFill>
              <a:srgbClr val="633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8072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578608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8181D"/>
                </a:solidFill>
                <a:latin typeface="Georgia"/>
              </a:rPr>
              <a:t>[ Your Name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97180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04A3A"/>
                </a:solidFill>
                <a:latin typeface="Aptos"/>
              </a:rPr>
              <a:t>[ Founder / Builder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794760"/>
            <a:ext cx="3840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6331C2"/>
                </a:solidFill>
                <a:latin typeface="Aptos"/>
              </a:rPr>
              <a:t>• </a:t>
            </a:r>
            <a:r>
              <a:rPr sz="1500">
                <a:solidFill>
                  <a:srgbClr val="18181D"/>
                </a:solidFill>
                <a:latin typeface="Aptos"/>
              </a:rPr>
              <a:t>1 line on your background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331C2"/>
                </a:solidFill>
                <a:latin typeface="Aptos"/>
              </a:rPr>
              <a:t>• </a:t>
            </a:r>
            <a:r>
              <a:rPr sz="1500">
                <a:solidFill>
                  <a:srgbClr val="18181D"/>
                </a:solidFill>
                <a:latin typeface="Aptos"/>
              </a:rPr>
              <a:t>1 line on why you care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331C2"/>
                </a:solidFill>
                <a:latin typeface="Aptos"/>
              </a:rPr>
              <a:t>• </a:t>
            </a:r>
            <a:r>
              <a:rPr sz="1500">
                <a:solidFill>
                  <a:srgbClr val="18181D"/>
                </a:solidFill>
                <a:latin typeface="Aptos"/>
              </a:rPr>
              <a:t>1 line on what you 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240280"/>
            <a:ext cx="4572000" cy="13258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57860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8181D"/>
                </a:solidFill>
                <a:latin typeface="Georgia"/>
              </a:rPr>
              <a:t>[ Team Member 2 ]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90779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04A3A"/>
                </a:solidFill>
                <a:latin typeface="Aptos"/>
              </a:rPr>
              <a:t>[ Role / focus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182112"/>
            <a:ext cx="3566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C6864"/>
                </a:solidFill>
                <a:latin typeface="Aptos"/>
              </a:rPr>
              <a:t>Short proof point or specialty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4069080"/>
            <a:ext cx="4572000" cy="13258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440740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8181D"/>
                </a:solidFill>
                <a:latin typeface="Georgia"/>
              </a:rPr>
              <a:t>[ Team Member 3 ]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473659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04A3A"/>
                </a:solidFill>
                <a:latin typeface="Aptos"/>
              </a:rPr>
              <a:t>[ Role / focus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5010912"/>
            <a:ext cx="3566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C6864"/>
                </a:solidFill>
                <a:latin typeface="Aptos"/>
              </a:rPr>
              <a:t>Short proof point or specialty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715000"/>
            <a:ext cx="9692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25312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6C6864"/>
                </a:solidFill>
                <a:latin typeface="Aptos"/>
              </a:rPr>
              <a:t>Tip: use this slide to show why this team can win, not to paste full bios.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